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2103120"/>
            <a:ext cx="5943600" cy="59436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822960"/>
            <a:ext cx="2926080" cy="2926080"/>
          </a:xfrm>
          <a:prstGeom prst="ellipse">
            <a:avLst/>
          </a:prstGeom>
          <a:solidFill>
            <a:srgbClr val="6DB33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 ·  FOUNDATIONS TO PRACTICE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Large Language Models</a:t>
            </a:r>
            <a:endParaRPr lang="en-US" sz="4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Building with </a:t>
            </a:r>
            <a:pPr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6DB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AI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guide to LLMs, embeddings, vector search and retrieval — with concrete examples using the Spring AI framework for Java developers.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5806440"/>
            <a:ext cx="260604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3144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8064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&amp; Model Selection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66160" y="5806440"/>
            <a:ext cx="260604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3144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58064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&amp; Parameters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5806440"/>
            <a:ext cx="260604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3144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58064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&amp; Vector DBs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52560" y="5806440"/>
            <a:ext cx="260604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3144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52560" y="58064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&amp; Hallucination Control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69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78992" y="1572768"/>
            <a:ext cx="4590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&amp; their types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86584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386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78992" y="2359152"/>
            <a:ext cx="4590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GPT, Gemini, Claude, Llama &amp; Mistral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172968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78992" y="3145536"/>
            <a:ext cx="4590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Commonly used LLM models today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959352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959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78992" y="3931920"/>
            <a:ext cx="4590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best LLM for a use case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745736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745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78992" y="4718304"/>
            <a:ext cx="4590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Tokens, context windows &amp; limits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553212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5532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78992" y="5504688"/>
            <a:ext cx="4590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Temperature, Top-P &amp; Max Tokens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035040" y="1600200"/>
            <a:ext cx="457200" cy="457200"/>
          </a:xfrm>
          <a:prstGeom prst="ellipse">
            <a:avLst/>
          </a:prstGeom>
          <a:solidFill>
            <a:srgbClr val="6DB33F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56832" y="1572768"/>
            <a:ext cx="4590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&amp; vector representations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035040" y="2386584"/>
            <a:ext cx="457200" cy="457200"/>
          </a:xfrm>
          <a:prstGeom prst="ellipse">
            <a:avLst/>
          </a:prstGeom>
          <a:solidFill>
            <a:srgbClr val="6DB33F"/>
          </a:solidFill>
          <a:ln/>
        </p:spPr>
      </p:sp>
      <p:sp>
        <p:nvSpPr>
          <p:cNvPr id="26" name="Text 24"/>
          <p:cNvSpPr/>
          <p:nvPr/>
        </p:nvSpPr>
        <p:spPr>
          <a:xfrm>
            <a:off x="6035040" y="2386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656832" y="2359152"/>
            <a:ext cx="4590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databases: Chroma, FAISS, Pinecone, PGVector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35040" y="3172968"/>
            <a:ext cx="457200" cy="457200"/>
          </a:xfrm>
          <a:prstGeom prst="ellipse">
            <a:avLst/>
          </a:prstGeom>
          <a:solidFill>
            <a:srgbClr val="6DB33F"/>
          </a:solidFill>
          <a:ln/>
        </p:spPr>
      </p:sp>
      <p:sp>
        <p:nvSpPr>
          <p:cNvPr id="29" name="Text 27"/>
          <p:cNvSpPr/>
          <p:nvPr/>
        </p:nvSpPr>
        <p:spPr>
          <a:xfrm>
            <a:off x="6035040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656832" y="3145536"/>
            <a:ext cx="4590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loading &amp; preprocessing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035040" y="3959352"/>
            <a:ext cx="457200" cy="457200"/>
          </a:xfrm>
          <a:prstGeom prst="ellipse">
            <a:avLst/>
          </a:prstGeom>
          <a:solidFill>
            <a:srgbClr val="6DB33F"/>
          </a:solidFill>
          <a:ln/>
        </p:spPr>
      </p:sp>
      <p:sp>
        <p:nvSpPr>
          <p:cNvPr id="32" name="Text 30"/>
          <p:cNvSpPr/>
          <p:nvPr/>
        </p:nvSpPr>
        <p:spPr>
          <a:xfrm>
            <a:off x="6035040" y="3959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656832" y="3931920"/>
            <a:ext cx="4590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Chunking, retrieval &amp; semantic search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035040" y="4745736"/>
            <a:ext cx="457200" cy="457200"/>
          </a:xfrm>
          <a:prstGeom prst="ellipse">
            <a:avLst/>
          </a:prstGeom>
          <a:solidFill>
            <a:srgbClr val="6DB33F"/>
          </a:solidFill>
          <a:ln/>
        </p:spPr>
      </p:sp>
      <p:sp>
        <p:nvSpPr>
          <p:cNvPr id="35" name="Text 33"/>
          <p:cNvSpPr/>
          <p:nvPr/>
        </p:nvSpPr>
        <p:spPr>
          <a:xfrm>
            <a:off x="6035040" y="4745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656832" y="4718304"/>
            <a:ext cx="4590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 &amp; how to reduce them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1155680" y="651967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69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 Language Models &amp; Their Types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is a neural network — usually a Transformer — trained on huge amounts of text to predict the next word. That simple skill, at massive scale, lets it write, summarize, translate and reason.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35204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2350008"/>
            <a:ext cx="402336" cy="40233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23500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2313432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/ Foundation Models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58368" y="2807208"/>
            <a:ext cx="3118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on raw text only; predicts likely next text but isn't tuned to follow instructions. E.g. Llama base checkpoints.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97096" y="2148840"/>
            <a:ext cx="35204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98264" y="2350008"/>
            <a:ext cx="402336" cy="40233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4398264" y="23500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28616" y="2313432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Instruction-Tuned Models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398264" y="2807208"/>
            <a:ext cx="3118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on instruction/response pairs so they follow commands like "summarize this." E.g. Mistral-Instruct.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936992" y="2148840"/>
            <a:ext cx="35204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38160" y="2350008"/>
            <a:ext cx="402336" cy="40233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8138160" y="23500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668512" y="2313432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/ Conversational Models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138160" y="2807208"/>
            <a:ext cx="3118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tuned (often with RLHF) to hold multi-turn, helpful, safe dialogue. E.g. ChatGPT, Claude, Gemini apps.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739896"/>
            <a:ext cx="35204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8368" y="3941064"/>
            <a:ext cx="402336" cy="40233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" y="39410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88720" y="3904488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Models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58368" y="4398264"/>
            <a:ext cx="3118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and/or generate text, images, audio or video together, e.g. GPT-4o, Gemini.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197096" y="3739896"/>
            <a:ext cx="35204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398264" y="3941064"/>
            <a:ext cx="402336" cy="40233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7" name="Text 25"/>
          <p:cNvSpPr/>
          <p:nvPr/>
        </p:nvSpPr>
        <p:spPr>
          <a:xfrm>
            <a:off x="4398264" y="39410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928616" y="3904488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Open-Weight Models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398264" y="4398264"/>
            <a:ext cx="3118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are downloadable and self-hostable, e.g. Llama, Mistral — full control, on-prem, no per-token fees.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936992" y="3739896"/>
            <a:ext cx="35204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138160" y="3941064"/>
            <a:ext cx="402336" cy="40233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2" name="Text 30"/>
          <p:cNvSpPr/>
          <p:nvPr/>
        </p:nvSpPr>
        <p:spPr>
          <a:xfrm>
            <a:off x="8138160" y="39410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668512" y="3904488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/ Closed Models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138160" y="4398264"/>
            <a:ext cx="3118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Accessed only via API, e.g. GPT, Claude, Gemini — no weight access, managed infra, pay-per-token.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57200" y="5989320"/>
            <a:ext cx="10881360" cy="502920"/>
          </a:xfrm>
          <a:prstGeom prst="rect">
            <a:avLst/>
          </a:prstGeom>
          <a:solidFill>
            <a:srgbClr val="EAF3E4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59893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69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AI angle:  </a:t>
            </a:r>
            <a:pPr indent="0" marL="0">
              <a:buNone/>
            </a:pPr>
            <a:r>
              <a:rPr lang="en-US" sz="1150" dirty="0">
                <a:solidFill>
                  <a:srgbClr val="24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ChatModel interface abstracts over all of these — swap OpenAI for Claude, Gemini or a locally-hosted Llama via Ollama without changing application code.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1155680" y="651967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69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Popular LLMs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74552" cy="4206240"/>
        </p:xfrm>
        <a:graphic>
          <a:graphicData uri="http://schemas.openxmlformats.org/drawingml/2006/table">
            <a:tbl>
              <a:tblPr/>
              <a:tblGrid>
                <a:gridCol w="1554480"/>
                <a:gridCol w="1463040"/>
                <a:gridCol w="3657600"/>
                <a:gridCol w="1828800"/>
                <a:gridCol w="2770632"/>
              </a:tblGrid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Family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Known For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Context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&amp; Spring AI Starter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Broad reasoning, huge ecosystem &amp; tooling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~128K–1M tokens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· spring-ai-openai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multimodal, deep Google Cloud ties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~1M+ tokens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· spring-ai-vertex-ai-gemini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4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Long-context reasoning, coding, safety focus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~200K tokens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· spring-ai-anthropic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Open-weight, self-hostable, customizable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~128K tokens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Self-host · spring-ai-ollama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4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Mistral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Mistral 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Efficient, fast, strong small/MoE models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~128K tokens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or self-host · spring-ai-mistral-ai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989320"/>
            <a:ext cx="11274552" cy="457200"/>
          </a:xfrm>
          <a:prstGeom prst="rect">
            <a:avLst/>
          </a:prstGeom>
          <a:solidFill>
            <a:srgbClr val="EAF3E4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4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"best" model exists — each family trades off reasoning depth, context length, cost and control differently.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11155680" y="651967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69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Pricing &amp; Access — Free vs Paid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isn't the only decision factor — cost model and openness often matter just as much for a real project's budget and constraints.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11274552" cy="3794760"/>
        </p:xfrm>
        <a:graphic>
          <a:graphicData uri="http://schemas.openxmlformats.org/drawingml/2006/table">
            <a:tbl>
              <a:tblPr/>
              <a:tblGrid>
                <a:gridCol w="1280160"/>
                <a:gridCol w="2514600"/>
                <a:gridCol w="2514600"/>
                <a:gridCol w="1947672"/>
                <a:gridCol w="301752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Tier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Weights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Privacy Note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Pay-per-token API, tiered by 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 free plan; small API trial credit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closed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used for training by default (API/Enterprise)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Pay-per-token API, competitive rates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Generous free tier via Google AI Studio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closed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used for training by default (paid tier)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Pay-per-token API, tiered by 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free tier via claude.ai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closed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used for training by default (Claude for Work)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to download; pay only for compute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free — no usage fees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open weights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control — data never leaves your infra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Mistral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open models + paid hosted API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tier on La Plateforme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several open-weight models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control if self-hosted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989320"/>
            <a:ext cx="11274552" cy="457200"/>
          </a:xfrm>
          <a:prstGeom prst="rect">
            <a:avLst/>
          </a:prstGeom>
          <a:solidFill>
            <a:srgbClr val="EAF3E4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69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AI:  </a:t>
            </a:r>
            <a:pPr indent="0" marL="0">
              <a:buNone/>
            </a:pPr>
            <a:r>
              <a:rPr lang="en-US" sz="1100" dirty="0">
                <a:solidFill>
                  <a:srgbClr val="24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swapping a paid API model for a free self-hosted one (via Ollama) is a configuration change to the ChatModel bean — no application code rewrite.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155680" y="651967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69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Commonly Used LLM Models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5204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08760"/>
            <a:ext cx="352044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087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OpenAI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19456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4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· GPT-4.1 · o3 / o4-mini (reasoning)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97096" y="1508760"/>
            <a:ext cx="35204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97096" y="1508760"/>
            <a:ext cx="352044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4197096" y="15087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Anthropic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425696" y="219456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4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 · Claude Sonnet · Claude Haiku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36992" y="1508760"/>
            <a:ext cx="35204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936992" y="1508760"/>
            <a:ext cx="352044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7936992" y="15087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65592" y="219456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4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2.0/2.5 Pro · Gemini Flash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648456"/>
            <a:ext cx="35204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648456"/>
            <a:ext cx="352044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648456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5800" y="4334256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4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 · 3.2 · 3.3 (8B – 405B params)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197096" y="3648456"/>
            <a:ext cx="35204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97096" y="3648456"/>
            <a:ext cx="352044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4197096" y="3648456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Mistral AI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425696" y="4334256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4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Large · Mixtral (MoE) · Mistral Small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936992" y="3648456"/>
            <a:ext cx="35204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936992" y="3648456"/>
            <a:ext cx="352044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6" name="Text 24"/>
          <p:cNvSpPr/>
          <p:nvPr/>
        </p:nvSpPr>
        <p:spPr>
          <a:xfrm>
            <a:off x="7936992" y="3648456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165592" y="4334256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4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 Command · Amazon Nova · DeepSeek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03504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AI supports these providers through a common ChatModel / EmbeddingModel API, so switching models is a configuration change, not a rewrite.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155680" y="651967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69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the Best LLM — Key Criteria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52044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45920"/>
            <a:ext cx="365760" cy="365760"/>
          </a:xfrm>
          <a:prstGeom prst="ellipse">
            <a:avLst/>
          </a:prstGeom>
          <a:solidFill>
            <a:srgbClr val="6DB33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15568" y="1609344"/>
            <a:ext cx="2679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Complexity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08483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classification or extraction needs a small, cheap model; deep multi-step reasoning needs a flagship model.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97096" y="1463040"/>
            <a:ext cx="352044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79976" y="1645920"/>
            <a:ext cx="365760" cy="365760"/>
          </a:xfrm>
          <a:prstGeom prst="ellipse">
            <a:avLst/>
          </a:prstGeom>
          <a:solidFill>
            <a:srgbClr val="6DB33F"/>
          </a:solidFill>
          <a:ln/>
        </p:spPr>
      </p:sp>
      <p:sp>
        <p:nvSpPr>
          <p:cNvPr id="11" name="Text 9"/>
          <p:cNvSpPr/>
          <p:nvPr/>
        </p:nvSpPr>
        <p:spPr>
          <a:xfrm>
            <a:off x="4379976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55464" y="1609344"/>
            <a:ext cx="2679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&amp; Cost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79976" y="208483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chat needs fast, inexpensive models; batch/offline jobs can afford slower, pricier ones.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936992" y="1463040"/>
            <a:ext cx="352044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19872" y="1645920"/>
            <a:ext cx="365760" cy="365760"/>
          </a:xfrm>
          <a:prstGeom prst="ellipse">
            <a:avLst/>
          </a:prstGeom>
          <a:solidFill>
            <a:srgbClr val="6DB33F"/>
          </a:solidFill>
          <a:ln/>
        </p:spPr>
      </p:sp>
      <p:sp>
        <p:nvSpPr>
          <p:cNvPr id="16" name="Text 14"/>
          <p:cNvSpPr/>
          <p:nvPr/>
        </p:nvSpPr>
        <p:spPr>
          <a:xfrm>
            <a:off x="8119872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595360" y="1609344"/>
            <a:ext cx="2679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Length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19872" y="208483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documents or long chat history require a model with a large context window.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127248"/>
            <a:ext cx="352044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3310128"/>
            <a:ext cx="365760" cy="365760"/>
          </a:xfrm>
          <a:prstGeom prst="ellipse">
            <a:avLst/>
          </a:prstGeom>
          <a:solidFill>
            <a:srgbClr val="6DB33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310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15568" y="3273552"/>
            <a:ext cx="2679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374904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or sensitive data may require a self-hosted open-weight model instead of a public API.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97096" y="3127248"/>
            <a:ext cx="352044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79976" y="3310128"/>
            <a:ext cx="365760" cy="365760"/>
          </a:xfrm>
          <a:prstGeom prst="ellipse">
            <a:avLst/>
          </a:prstGeom>
          <a:solidFill>
            <a:srgbClr val="6DB33F"/>
          </a:solidFill>
          <a:ln/>
        </p:spPr>
      </p:sp>
      <p:sp>
        <p:nvSpPr>
          <p:cNvPr id="26" name="Text 24"/>
          <p:cNvSpPr/>
          <p:nvPr/>
        </p:nvSpPr>
        <p:spPr>
          <a:xfrm>
            <a:off x="4379976" y="3310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55464" y="3273552"/>
            <a:ext cx="2679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Multimodality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379976" y="374904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involving images, audio or video need a model built for that modality, not text-only.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936992" y="3127248"/>
            <a:ext cx="352044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19872" y="3310128"/>
            <a:ext cx="365760" cy="365760"/>
          </a:xfrm>
          <a:prstGeom prst="ellipse">
            <a:avLst/>
          </a:prstGeom>
          <a:solidFill>
            <a:srgbClr val="6DB33F"/>
          </a:solidFill>
          <a:ln/>
        </p:spPr>
      </p:sp>
      <p:sp>
        <p:nvSpPr>
          <p:cNvPr id="31" name="Text 29"/>
          <p:cNvSpPr/>
          <p:nvPr/>
        </p:nvSpPr>
        <p:spPr>
          <a:xfrm>
            <a:off x="8119872" y="3310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595360" y="3273552"/>
            <a:ext cx="2679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119872" y="374904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domain fine-tuning or full weight access? Open-weight models (Llama, Mistral) allow that; closed APIs don't.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791456"/>
            <a:ext cx="352044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0080" y="4974336"/>
            <a:ext cx="365760" cy="365760"/>
          </a:xfrm>
          <a:prstGeom prst="ellipse">
            <a:avLst/>
          </a:prstGeom>
          <a:solidFill>
            <a:srgbClr val="6DB33F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4974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115568" y="4937760"/>
            <a:ext cx="2679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&amp; Budget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0080" y="5413248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Pay-per-token APIs suit light usage; high-volume products often save by self-hosting a free open-weight model.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197096" y="4791456"/>
            <a:ext cx="352044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379976" y="4974336"/>
            <a:ext cx="365760" cy="365760"/>
          </a:xfrm>
          <a:prstGeom prst="ellipse">
            <a:avLst/>
          </a:prstGeom>
          <a:solidFill>
            <a:srgbClr val="6DB33F"/>
          </a:solidFill>
          <a:ln/>
        </p:spPr>
      </p:sp>
      <p:sp>
        <p:nvSpPr>
          <p:cNvPr id="41" name="Text 39"/>
          <p:cNvSpPr/>
          <p:nvPr/>
        </p:nvSpPr>
        <p:spPr>
          <a:xfrm>
            <a:off x="4379976" y="4974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855464" y="4937760"/>
            <a:ext cx="2679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379976" y="5413248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High-traffic apps need generous API rate limits or dedicated capacity, not a free-tier quota.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936992" y="4791456"/>
            <a:ext cx="352044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119872" y="4974336"/>
            <a:ext cx="365760" cy="365760"/>
          </a:xfrm>
          <a:prstGeom prst="ellipse">
            <a:avLst/>
          </a:prstGeom>
          <a:solidFill>
            <a:srgbClr val="6DB33F"/>
          </a:solidFill>
          <a:ln/>
        </p:spPr>
      </p:sp>
      <p:sp>
        <p:nvSpPr>
          <p:cNvPr id="46" name="Text 44"/>
          <p:cNvSpPr/>
          <p:nvPr/>
        </p:nvSpPr>
        <p:spPr>
          <a:xfrm>
            <a:off x="8119872" y="4974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595360" y="4937760"/>
            <a:ext cx="2679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Lock-in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119872" y="5413248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APIs tie you to one vendor's pricing and roadmap; open-weight models keep you portable.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1155680" y="651967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69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the Best LLM — Example Scenarios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724912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2724912" cy="9601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2359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Support Chatbot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569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2761488"/>
            <a:ext cx="2359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mini / Claude Haiku / Mistral Small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657600"/>
            <a:ext cx="2359152" cy="0"/>
          </a:xfrm>
          <a:prstGeom prst="line">
            <a:avLst/>
          </a:prstGeom>
          <a:noFill/>
          <a:ln w="12700">
            <a:solidFill>
              <a:srgbClr val="DDE3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794760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4023360"/>
            <a:ext cx="235915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4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low latency and low cost at high volume; conversations are short, so a smaller fast model gives good quality-to-cost.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64992" y="1463040"/>
            <a:ext cx="2724912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64992" y="1463040"/>
            <a:ext cx="2724912" cy="9601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3547872" y="1463040"/>
            <a:ext cx="2359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 / Contract Analysis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547872" y="2560320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569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47872" y="2761488"/>
            <a:ext cx="2359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or Gemini Pro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547872" y="3657600"/>
            <a:ext cx="2359152" cy="0"/>
          </a:xfrm>
          <a:prstGeom prst="line">
            <a:avLst/>
          </a:prstGeom>
          <a:noFill/>
          <a:ln w="12700">
            <a:solidFill>
              <a:srgbClr val="DDE3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47872" y="3794760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547872" y="4023360"/>
            <a:ext cx="235915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4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run to hundreds of pages, so a huge context window and strong long-form reasoning matter more than raw speed.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72784" y="1463040"/>
            <a:ext cx="2724912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72784" y="1463040"/>
            <a:ext cx="2724912" cy="9601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6455664" y="1463040"/>
            <a:ext cx="2359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On-Prem, Regulated Data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55664" y="2560320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569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55664" y="2761488"/>
            <a:ext cx="2359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 or Mistral via Ollama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55664" y="3657600"/>
            <a:ext cx="2359152" cy="0"/>
          </a:xfrm>
          <a:prstGeom prst="line">
            <a:avLst/>
          </a:prstGeom>
          <a:noFill/>
          <a:ln w="12700">
            <a:solidFill>
              <a:srgbClr val="DDE3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55664" y="3794760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55664" y="4023360"/>
            <a:ext cx="235915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4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cannot leave the organization's network, so a free, self-hosted open-weight model is required, even at some quality cost.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180576" y="1463040"/>
            <a:ext cx="2724912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180576" y="1463040"/>
            <a:ext cx="2724912" cy="9601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0" name="Text 28"/>
          <p:cNvSpPr/>
          <p:nvPr/>
        </p:nvSpPr>
        <p:spPr>
          <a:xfrm>
            <a:off x="9363456" y="1463040"/>
            <a:ext cx="2359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High-Volume Content Generation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9363456" y="2560320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569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363456" y="2761488"/>
            <a:ext cx="2359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Flash / Mistral Small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363456" y="3657600"/>
            <a:ext cx="2359152" cy="0"/>
          </a:xfrm>
          <a:prstGeom prst="line">
            <a:avLst/>
          </a:prstGeom>
          <a:noFill/>
          <a:ln w="12700">
            <a:solidFill>
              <a:srgbClr val="DDE3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63456" y="3794760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363456" y="4023360"/>
            <a:ext cx="235915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4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short requests per month make per-token price the deciding factor — the cheapest capable model wins on total cost.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1155680" y="651967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69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Tokens, Context Windows &amp; Token Limits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50292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endParaRPr lang="en-US" sz="1300" dirty="0"/>
          </a:p>
          <a:p>
            <a:pPr indent="0" marL="0">
              <a:lnSpc>
                <a:spcPct val="12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token is a chunk of text — often a word piece. As a rule of thumb, 1 token ≈ 4 characters of English, so ~750 words ≈ 1,000 tokens.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</a:t>
            </a:r>
            <a:endParaRPr lang="en-US" sz="1300" dirty="0"/>
          </a:p>
          <a:p>
            <a:pPr indent="0" marL="0">
              <a:lnSpc>
                <a:spcPct val="12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maximum number of tokens (prompt + conversation history + response) a model can "see" at once. Anything beyond it is truncated or dropped.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Limits &amp; Pricing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 cap output length (max tokens) and charge per token for both input and output — so token count drives cost, not just response size.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806440" y="1508760"/>
            <a:ext cx="877824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5806440" y="1508760"/>
            <a:ext cx="87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739128" y="1508760"/>
            <a:ext cx="630936" cy="45720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8" name="Text 6"/>
          <p:cNvSpPr/>
          <p:nvPr/>
        </p:nvSpPr>
        <p:spPr>
          <a:xfrm>
            <a:off x="6739128" y="1508760"/>
            <a:ext cx="630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AI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424928" y="1508760"/>
            <a:ext cx="713232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7424928" y="150876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tok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93024" y="1508760"/>
            <a:ext cx="713232" cy="45720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12" name="Text 10"/>
          <p:cNvSpPr/>
          <p:nvPr/>
        </p:nvSpPr>
        <p:spPr>
          <a:xfrm>
            <a:off x="8193024" y="150876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eniz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61120" y="1508760"/>
            <a:ext cx="54864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0" y="1508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564624" y="1508760"/>
            <a:ext cx="795528" cy="45720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16" name="Text 14"/>
          <p:cNvSpPr/>
          <p:nvPr/>
        </p:nvSpPr>
        <p:spPr>
          <a:xfrm>
            <a:off x="9564624" y="1508760"/>
            <a:ext cx="795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text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806440" y="20574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6 tokens for one short sentence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06440" y="2606040"/>
          <a:ext cx="5925312" cy="2377440"/>
        </p:xfrm>
        <a:graphic>
          <a:graphicData uri="http://schemas.openxmlformats.org/drawingml/2006/table">
            <a:tbl>
              <a:tblPr/>
              <a:tblGrid>
                <a:gridCol w="2286000"/>
                <a:gridCol w="1783080"/>
                <a:gridCol w="185623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Approx. Context Window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Approx. Price / 1M Input Tokens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128K tokens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~$2.50 – $5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Sonnet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200K tokens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Pro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1M+ tokens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~$1.25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 3.1 (self-hosted)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128K tokens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— compute cost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4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EAF3E4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59893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69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AI:  </a:t>
            </a:r>
            <a:pPr indent="0" marL="0">
              <a:buNone/>
            </a:pPr>
            <a:r>
              <a:rPr lang="en-US" sz="1100" dirty="0">
                <a:solidFill>
                  <a:srgbClr val="24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ChatOptions.builder().maxTokens(500) caps response length; Spring AI's ChatMemory can trim older turns so history stays inside the context window.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1155680" y="651967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69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Temperature, Top-P &amp; Max Tokens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602736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600200"/>
            <a:ext cx="3145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Temperature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2057400"/>
            <a:ext cx="31455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randomness. Low (0.0–0.3) = focused, predictable text. High (0.8–1.2) = more varied, creative text.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85800" y="3611880"/>
            <a:ext cx="3145536" cy="73152"/>
          </a:xfrm>
          <a:prstGeom prst="rect">
            <a:avLst/>
          </a:prstGeom>
          <a:solidFill>
            <a:srgbClr val="DDE3E0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3611880"/>
            <a:ext cx="786384" cy="73152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3529584"/>
            <a:ext cx="237744" cy="237744"/>
          </a:xfrm>
          <a:prstGeom prst="ellipse">
            <a:avLst/>
          </a:prstGeom>
          <a:solidFill>
            <a:srgbClr val="1B2A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1417320"/>
            <a:ext cx="3602736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26280" y="1600200"/>
            <a:ext cx="3145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Top-P (Nucleus)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26280" y="2057400"/>
            <a:ext cx="31455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only the smallest set of most-likely next tokens whose probabilities add up to P, then samples from that set.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26280" y="3611880"/>
            <a:ext cx="3145536" cy="73152"/>
          </a:xfrm>
          <a:prstGeom prst="rect">
            <a:avLst/>
          </a:prstGeom>
          <a:solidFill>
            <a:srgbClr val="DDE3E0"/>
          </a:solidFill>
          <a:ln/>
        </p:spPr>
      </p:sp>
      <p:sp>
        <p:nvSpPr>
          <p:cNvPr id="14" name="Shape 12"/>
          <p:cNvSpPr/>
          <p:nvPr/>
        </p:nvSpPr>
        <p:spPr>
          <a:xfrm>
            <a:off x="4526280" y="3611880"/>
            <a:ext cx="1887322" cy="73152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15" name="Shape 13"/>
          <p:cNvSpPr/>
          <p:nvPr/>
        </p:nvSpPr>
        <p:spPr>
          <a:xfrm>
            <a:off x="6331306" y="3529584"/>
            <a:ext cx="237744" cy="237744"/>
          </a:xfrm>
          <a:prstGeom prst="ellipse">
            <a:avLst/>
          </a:prstGeom>
          <a:solidFill>
            <a:srgbClr val="1B2A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1417320"/>
            <a:ext cx="3602736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66760" y="1600200"/>
            <a:ext cx="3145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 Tokens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66760" y="2057400"/>
            <a:ext cx="31455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 ceiling on how many tokens the model may generate in its reply, controlling length and cost.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366760" y="3611880"/>
            <a:ext cx="3145536" cy="73152"/>
          </a:xfrm>
          <a:prstGeom prst="rect">
            <a:avLst/>
          </a:prstGeom>
          <a:solidFill>
            <a:srgbClr val="DDE3E0"/>
          </a:solidFill>
          <a:ln/>
        </p:spPr>
      </p:sp>
      <p:sp>
        <p:nvSpPr>
          <p:cNvPr id="20" name="Shape 18"/>
          <p:cNvSpPr/>
          <p:nvPr/>
        </p:nvSpPr>
        <p:spPr>
          <a:xfrm>
            <a:off x="8366760" y="3611880"/>
            <a:ext cx="2673706" cy="73152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21" name="Shape 19"/>
          <p:cNvSpPr/>
          <p:nvPr/>
        </p:nvSpPr>
        <p:spPr>
          <a:xfrm>
            <a:off x="10958170" y="3529584"/>
            <a:ext cx="237744" cy="237744"/>
          </a:xfrm>
          <a:prstGeom prst="ellipse">
            <a:avLst/>
          </a:prstGeom>
          <a:solidFill>
            <a:srgbClr val="1B2A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480560"/>
            <a:ext cx="11274552" cy="1600200"/>
          </a:xfrm>
          <a:prstGeom prst="rect">
            <a:avLst/>
          </a:prstGeom>
          <a:solidFill>
            <a:srgbClr val="121D33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590288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BE3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ChatClient.create(chatModel).prompt()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BE3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.options(ChatOptions.builder()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BE3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.temperature(0.7).topP(0.9).maxTokens(400).build())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BE3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.user("Summarize this changelog").call().content();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236208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low temperature for code generation and factual Q&amp;A; higher temperature for brainstorming and creative writing.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155680" y="651967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69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Embeddings &amp; Vector Representations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embedding turns text into a list of numbers (a vector) that captures its meaning. Texts with similar meaning end up as vectors that sit close together in that space — which is what makes semantic search possible.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4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by an embedding model (e.g. text-embedding-3, Gemini Embedding)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4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Closeness is measured with cosine similarity or dot product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4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search, recommendations, clustering &amp; RAG retrieval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160520"/>
          <a:ext cx="5029200" cy="1280160"/>
        </p:xfrm>
        <a:graphic>
          <a:graphicData uri="http://schemas.openxmlformats.org/drawingml/2006/table">
            <a:tbl>
              <a:tblPr/>
              <a:tblGrid>
                <a:gridCol w="2286000"/>
                <a:gridCol w="1188720"/>
                <a:gridCol w="15544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 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text-embedding-3-small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1,536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~$0.02 / 1M tokens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Embedding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768–3,072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tier, then usage-based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Open-source (e.g. all-MiniLM)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— self-hosted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577840"/>
            <a:ext cx="5029200" cy="502920"/>
          </a:xfrm>
          <a:prstGeom prst="rect">
            <a:avLst/>
          </a:prstGeom>
          <a:solidFill>
            <a:srgbClr val="EAF3E4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55778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69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AI:  </a:t>
            </a:r>
            <a:pPr indent="0" marL="0">
              <a:buNone/>
            </a:pPr>
            <a:r>
              <a:rPr lang="en-US" sz="1100" dirty="0">
                <a:solidFill>
                  <a:srgbClr val="24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EmbeddingModel.embed("text") returns a float[] vector.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669280" y="13716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embedding space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669280" y="1691640"/>
            <a:ext cx="60350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775704" y="2249424"/>
            <a:ext cx="164592" cy="164592"/>
          </a:xfrm>
          <a:prstGeom prst="ellipse">
            <a:avLst/>
          </a:prstGeom>
          <a:solidFill>
            <a:srgbClr val="6DB33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031736" y="2450592"/>
            <a:ext cx="164592" cy="164592"/>
          </a:xfrm>
          <a:prstGeom prst="ellipse">
            <a:avLst/>
          </a:prstGeom>
          <a:solidFill>
            <a:srgbClr val="6DB33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74536" y="2414016"/>
            <a:ext cx="164592" cy="164592"/>
          </a:xfrm>
          <a:prstGeom prst="ellipse">
            <a:avLst/>
          </a:prstGeom>
          <a:solidFill>
            <a:srgbClr val="6DB33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85432" y="2029968"/>
            <a:ext cx="164592" cy="164592"/>
          </a:xfrm>
          <a:prstGeom prst="ellipse">
            <a:avLst/>
          </a:prstGeom>
          <a:solidFill>
            <a:srgbClr val="6DB33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638544" y="2112264"/>
            <a:ext cx="164592" cy="164592"/>
          </a:xfrm>
          <a:prstGeom prst="ellipse">
            <a:avLst/>
          </a:prstGeom>
          <a:solidFill>
            <a:srgbClr val="6DB33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0" y="2715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10067544" y="4123944"/>
            <a:ext cx="164592" cy="16459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341864" y="3986784"/>
            <a:ext cx="164592" cy="16459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838944" y="4261104"/>
            <a:ext cx="164592" cy="16459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0158984" y="4379976"/>
            <a:ext cx="164592" cy="16459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884664" y="3922776"/>
            <a:ext cx="164592" cy="16459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235440" y="4590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7872984" y="3392424"/>
            <a:ext cx="164592" cy="164592"/>
          </a:xfrm>
          <a:prstGeom prst="ellipse">
            <a:avLst/>
          </a:prstGeom>
          <a:solidFill>
            <a:srgbClr val="C97B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110728" y="3557016"/>
            <a:ext cx="164592" cy="164592"/>
          </a:xfrm>
          <a:prstGeom prst="ellipse">
            <a:avLst/>
          </a:prstGeom>
          <a:solidFill>
            <a:srgbClr val="C97B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653528" y="3300984"/>
            <a:ext cx="164592" cy="164592"/>
          </a:xfrm>
          <a:prstGeom prst="ellipse">
            <a:avLst/>
          </a:prstGeom>
          <a:solidFill>
            <a:srgbClr val="C97B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918704" y="3154680"/>
            <a:ext cx="164592" cy="164592"/>
          </a:xfrm>
          <a:prstGeom prst="ellipse">
            <a:avLst/>
          </a:prstGeom>
          <a:solidFill>
            <a:srgbClr val="C97B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708392" y="3575304"/>
            <a:ext cx="164592" cy="164592"/>
          </a:xfrm>
          <a:prstGeom prst="ellipse">
            <a:avLst/>
          </a:prstGeom>
          <a:solidFill>
            <a:srgbClr val="C97B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040880" y="3858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/ Spring AI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5943600" y="5166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close together share similar meaning; distant points don't.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11155680" y="651967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69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 Databases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vector database stores embeddings and finds the nearest ones to a query vector — the core lookup behind retrieval-augmented generation.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74520"/>
          <a:ext cx="11274552" cy="3657600"/>
        </p:xfrm>
        <a:graphic>
          <a:graphicData uri="http://schemas.openxmlformats.org/drawingml/2006/table">
            <a:tbl>
              <a:tblPr/>
              <a:tblGrid>
                <a:gridCol w="1417320"/>
                <a:gridCol w="1783080"/>
                <a:gridCol w="2194560"/>
                <a:gridCol w="3410712"/>
                <a:gridCol w="246888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 DB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 / Free Tier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AI VectorStore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ChromaDB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Open-source, embeddable/server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(self-host); paid Chroma Cloud tiers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local development &amp; prototyping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ChromaVectorStore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library, in-process/in-memory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Free, open-source (compute cost only)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High-performance similarity search at scale, no server needed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(via custom / Ollama pipelines)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Pinecone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 cloud service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starter tier, then usage-based pricing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workloads needing zero infra ops &amp; auto-scaling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PineconeVectorStore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PGVector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extension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Free, open-source (pay only for DB hosting)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Teams already on Postgres who want vectors alongside relational 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PgVectorStore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4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943600"/>
            <a:ext cx="11274552" cy="502920"/>
          </a:xfrm>
          <a:prstGeom prst="rect">
            <a:avLst/>
          </a:prstGeom>
          <a:solidFill>
            <a:srgbClr val="EAF3E4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59436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69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AI:  </a:t>
            </a:r>
            <a:pPr indent="0" marL="0">
              <a:buNone/>
            </a:pPr>
            <a:r>
              <a:rPr lang="en-US" sz="1100" dirty="0">
                <a:solidFill>
                  <a:srgbClr val="24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VectorStore interface is identical across all providers — code written against ChromaVectorStore switches to PgVectorStore with a one-line configuration change.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155680" y="651967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69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Loading, Extraction &amp; Preprocessing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text can be embedded, it has to be read out of source files, cleaned and normalized. Spring AI models this as an ETL pipeline of three interfaces.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262432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13332" y="2313432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1513332" y="23134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2971800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3355848"/>
            <a:ext cx="2350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692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DocumentReader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749040"/>
            <a:ext cx="22585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raw source files — PDF, Word, HTML, JSON, Markdown — into Document objects.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081528" y="352044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282696" y="2057400"/>
            <a:ext cx="262432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38828" y="2313432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4338828" y="23134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19856" y="2971800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419856" y="3355848"/>
            <a:ext cx="2350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692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TikaDocumentReader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65576" y="3749040"/>
            <a:ext cx="22585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plain text out of complex formats (scanned PDFs, Office files) via Apache Tika.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907024" y="352044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108192" y="2057400"/>
            <a:ext cx="262432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64324" y="2313432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7164324" y="23134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245352" y="2971800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245352" y="3355848"/>
            <a:ext cx="2350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692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DocumentTransformer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91072" y="3749040"/>
            <a:ext cx="22585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boilerplate, headers/footers, extra whitespace and non-content noise.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732520" y="352044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933688" y="2057400"/>
            <a:ext cx="262432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989820" y="2313432"/>
            <a:ext cx="512064" cy="512064"/>
          </a:xfrm>
          <a:prstGeom prst="ellipse">
            <a:avLst/>
          </a:prstGeom>
          <a:solidFill>
            <a:srgbClr val="6DB33F"/>
          </a:solidFill>
          <a:ln/>
        </p:spPr>
      </p:sp>
      <p:sp>
        <p:nvSpPr>
          <p:cNvPr id="28" name="Text 26"/>
          <p:cNvSpPr/>
          <p:nvPr/>
        </p:nvSpPr>
        <p:spPr>
          <a:xfrm>
            <a:off x="9989820" y="23134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070848" y="2971800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Enrich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070848" y="3355848"/>
            <a:ext cx="2350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692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KeywordMetadataEnricher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116568" y="3749040"/>
            <a:ext cx="22585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metadata — source, keywords, section — used later for filtering search results.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1155680" y="651967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69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Chunking Techniques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documents are split into smaller "chunks" before embedding — small enough to embed precisely, large enough to keep context intact. A common starting point is 200–500 tokens per chunk with 10–20% overlap between chunks.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5394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2167128"/>
            <a:ext cx="365760" cy="365760"/>
          </a:xfrm>
          <a:prstGeom prst="ellipse">
            <a:avLst/>
          </a:prstGeom>
          <a:solidFill>
            <a:srgbClr val="6DB33F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167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213055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Fixed-Size Chunking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679192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every N tokens/characters, often with some overlap. Simple and predictable, but can cut sentences mid-thought.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71616" y="1965960"/>
            <a:ext cx="5394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00216" y="2167128"/>
            <a:ext cx="365760" cy="365760"/>
          </a:xfrm>
          <a:prstGeom prst="ellipse">
            <a:avLst/>
          </a:prstGeom>
          <a:solidFill>
            <a:srgbClr val="6DB33F"/>
          </a:solidFill>
          <a:ln/>
        </p:spPr>
      </p:sp>
      <p:sp>
        <p:nvSpPr>
          <p:cNvPr id="12" name="Text 10"/>
          <p:cNvSpPr/>
          <p:nvPr/>
        </p:nvSpPr>
        <p:spPr>
          <a:xfrm>
            <a:off x="6300216" y="2167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48856" y="213055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Sentence / Paragraph-Based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91656" y="2679192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along natural language boundaries so each chunk stays grammatically and semantically whole.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858768"/>
            <a:ext cx="5394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5800" y="4059936"/>
            <a:ext cx="365760" cy="365760"/>
          </a:xfrm>
          <a:prstGeom prst="ellipse">
            <a:avLst/>
          </a:prstGeom>
          <a:solidFill>
            <a:srgbClr val="6DB33F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059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40233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Recursive Chunking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457200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Tries larger separators first (sections, then paragraphs, then sentences) until chunks fit the size limit.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071616" y="3858768"/>
            <a:ext cx="5394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00216" y="4059936"/>
            <a:ext cx="365760" cy="365760"/>
          </a:xfrm>
          <a:prstGeom prst="ellipse">
            <a:avLst/>
          </a:prstGeom>
          <a:solidFill>
            <a:srgbClr val="6DB33F"/>
          </a:solidFill>
          <a:ln/>
        </p:spPr>
      </p:sp>
      <p:sp>
        <p:nvSpPr>
          <p:cNvPr id="22" name="Text 20"/>
          <p:cNvSpPr/>
          <p:nvPr/>
        </p:nvSpPr>
        <p:spPr>
          <a:xfrm>
            <a:off x="6300216" y="4059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48856" y="40233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Chunking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91656" y="457200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embeddings to detect topic shifts and splits where meaning changes, keeping each chunk on one idea.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5989320"/>
            <a:ext cx="10881360" cy="502920"/>
          </a:xfrm>
          <a:prstGeom prst="rect">
            <a:avLst/>
          </a:prstGeom>
          <a:solidFill>
            <a:srgbClr val="EAF3E4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59893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69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AI:  </a:t>
            </a:r>
            <a:pPr indent="0" marL="0">
              <a:buNone/>
            </a:pPr>
            <a:r>
              <a:rPr lang="en-US" sz="1150" dirty="0">
                <a:solidFill>
                  <a:srgbClr val="24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TokenTextSplitter chunks Documents by token count with configurable overlap before they're embedded and stored.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1155680" y="651967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69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 &amp; Semantic Search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finds results by meaning, not exact keywords — a query about "cancelling a plan" can match a document that says "terminate a subscription." This is the retrieval half of RAG (Retrieval-Augmented Generation):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1371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  <a:effectLst>
            <a:outerShdw sx="100000" sy="100000" kx="0" ky="0" algn="bl" rotWithShape="0" blurRad="63500" dist="25400" dir="5400000">
              <a:srgbClr val="999999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233172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828800" y="2331720"/>
            <a:ext cx="2788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69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107692" y="2331720"/>
            <a:ext cx="1371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  <a:effectLst>
            <a:outerShdw sx="100000" sy="100000" kx="0" ky="0" algn="bl" rotWithShape="0" blurRad="63500" dist="25400" dir="5400000">
              <a:srgbClr val="999999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07692" y="233172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479292" y="2331720"/>
            <a:ext cx="2788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69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758184" y="2331720"/>
            <a:ext cx="1371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  <a:effectLst>
            <a:outerShdw sx="100000" sy="100000" kx="0" ky="0" algn="bl" rotWithShape="0" blurRad="63500" dist="25400" dir="5400000">
              <a:srgbClr val="999999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58184" y="233172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129784" y="2331720"/>
            <a:ext cx="2788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69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08676" y="2331720"/>
            <a:ext cx="1371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  <a:effectLst>
            <a:outerShdw sx="100000" sy="100000" kx="0" ky="0" algn="bl" rotWithShape="0" blurRad="63500" dist="25400" dir="5400000">
              <a:srgbClr val="999999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08676" y="233172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Chunks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780276" y="2331720"/>
            <a:ext cx="2788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69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059168" y="2331720"/>
            <a:ext cx="1371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  <a:effectLst>
            <a:outerShdw sx="100000" sy="100000" kx="0" ky="0" algn="bl" rotWithShape="0" blurRad="63500" dist="25400" dir="5400000">
              <a:srgbClr val="999999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059168" y="233172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430768" y="2331720"/>
            <a:ext cx="2788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69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709660" y="2331720"/>
            <a:ext cx="1371600" cy="1005840"/>
          </a:xfrm>
          <a:prstGeom prst="rect">
            <a:avLst/>
          </a:prstGeom>
          <a:solidFill>
            <a:srgbClr val="6DB33F"/>
          </a:solidFill>
          <a:ln w="12700">
            <a:solidFill>
              <a:srgbClr val="DDE3E0"/>
            </a:solidFill>
            <a:prstDash val="solid"/>
          </a:ln>
          <a:effectLst>
            <a:outerShdw sx="100000" sy="100000" kx="0" ky="0" algn="bl" rotWithShape="0" blurRad="63500" dist="25400" dir="5400000">
              <a:srgbClr val="999999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709660" y="233172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081260" y="2331720"/>
            <a:ext cx="2788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69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360152" y="2331720"/>
            <a:ext cx="13716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DDE3E0"/>
            </a:solidFill>
            <a:prstDash val="solid"/>
          </a:ln>
          <a:effectLst>
            <a:outerShdw sx="100000" sy="100000" kx="0" ky="0" algn="bl" rotWithShape="0" blurRad="63500" dist="25400" dir="5400000">
              <a:srgbClr val="999999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360152" y="233172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374904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4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search ranks vectors by cosine similarity or nearest-neighbor distance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4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retrieved chunks are inserted into the prompt as grounding context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4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answers using both its own knowledge and the retrieved facts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4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 blends keyword search (e.g. BM25) with semantic search for the best of both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5989320"/>
            <a:ext cx="10881360" cy="502920"/>
          </a:xfrm>
          <a:prstGeom prst="rect">
            <a:avLst/>
          </a:prstGeom>
          <a:solidFill>
            <a:srgbClr val="EAF3E4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59893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69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AI:  </a:t>
            </a:r>
            <a:pPr indent="0" marL="0">
              <a:buNone/>
            </a:pPr>
            <a:r>
              <a:rPr lang="en-US" sz="1150" dirty="0">
                <a:solidFill>
                  <a:srgbClr val="24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QuestionAnswerAdvisor wires this whole pipeline into a ChatClient call in a few lines of code.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155680" y="651967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69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Hallucinations in LLMs &amp; How to Reduce Them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hallucination is a confident, fluent answer that is factually wrong or unsupported — the model is predicting plausible-sounding text, not looking facts up.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asked for a legal citation, an ungrounded model may invent a realistic-looking but nonexistent case name and docket number.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HAPPENS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4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or errors in training data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4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or under-specified prompts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4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access to real-time or private facts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4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over-generalizes patterns it has seen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760720" y="21945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69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REDUCE 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0" y="251460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24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answers with RAG — retrieve real documents before answering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24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 the model to answer only from given context, and say "I don't know" otherwise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24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the temperature for factual tasks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24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citations/sources and verify them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24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or evaluate on domain-specific data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5989320"/>
            <a:ext cx="10881360" cy="502920"/>
          </a:xfrm>
          <a:prstGeom prst="rect">
            <a:avLst/>
          </a:prstGeom>
          <a:solidFill>
            <a:srgbClr val="EAF3E4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59893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69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AI:  </a:t>
            </a:r>
            <a:pPr indent="0" marL="0">
              <a:buNone/>
            </a:pPr>
            <a:r>
              <a:rPr lang="en-US" sz="1150" dirty="0">
                <a:solidFill>
                  <a:srgbClr val="24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QuestionAnswerAdvisor pattern grounds every response in retrieved vector-store content, directly cutting hallucination rates in production apps.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1155680" y="651967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365760" cy="365760"/>
          </a:xfrm>
          <a:prstGeom prst="ellipse">
            <a:avLst/>
          </a:prstGeom>
          <a:solidFill>
            <a:srgbClr val="6DB33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181965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model by task, cost, context length, privacy and modality — not by hype.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2532888"/>
            <a:ext cx="365760" cy="365760"/>
          </a:xfrm>
          <a:prstGeom prst="ellipse">
            <a:avLst/>
          </a:prstGeom>
          <a:solidFill>
            <a:srgbClr val="6DB33F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532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247802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Temperature, Top-P and Max Tokens tune the trade-off between creativity, focus and cost.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2960" y="3191256"/>
            <a:ext cx="365760" cy="365760"/>
          </a:xfrm>
          <a:prstGeom prst="ellipse">
            <a:avLst/>
          </a:prstGeom>
          <a:solidFill>
            <a:srgbClr val="6DB33F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191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71600" y="313639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+ vector databases are the backbone of semantic search and RAG.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2960" y="3849624"/>
            <a:ext cx="365760" cy="365760"/>
          </a:xfrm>
          <a:prstGeom prst="ellipse">
            <a:avLst/>
          </a:prstGeom>
          <a:solidFill>
            <a:srgbClr val="6DB33F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849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71600" y="379476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documents thoughtfully, retrieve precisely, and ground answers to curb hallucinations.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22960" y="4507992"/>
            <a:ext cx="365760" cy="365760"/>
          </a:xfrm>
          <a:prstGeom prst="ellipse">
            <a:avLst/>
          </a:prstGeom>
          <a:solidFill>
            <a:srgbClr val="6DB33F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507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71600" y="445312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AI provides one consistent Java API across every model, vector store and pipeline shown today.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22960" y="5943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6DB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2026-08-13T09:24:11Z</dcterms:created>
  <dcterms:modified xsi:type="dcterms:W3CDTF">2026-08-13T09:24:11Z</dcterms:modified>
</cp:coreProperties>
</file>