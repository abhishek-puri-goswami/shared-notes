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STUDY DECK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• Types • Techniques • Frameworks • Best Practices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886200"/>
            <a:ext cx="201168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1148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notes on how large language models are guided — from zero-shot prompts to agentic ReAct and Tree-of-Thoughts reasoning — compiled from current research, industry guides, and top-rated online courses.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5623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623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TOPICS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562356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2C32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5623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TECHNIQUES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56235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2C32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Engineering?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practice of designing, structuring, and refining the natural-language instructions (prompts) given to a large language model (LLM) so it produces accurate, relevant, and reliable output — without changing the model's underlying weights.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5943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prompt → dramatically different quality of output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or fine-tuning required — it's the fastest lever to improve AI results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hallucination, bias, and irrelevant answers when done well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general-purpose model into a reliable tool for a specific task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1508760"/>
            <a:ext cx="4343400" cy="2084832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352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INTERFACE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35240" y="205740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prompt as the API call you make to a model's “reasoning engine.” Precision in, precision 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3730752"/>
            <a:ext cx="4343400" cy="225856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41879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CAGR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635240" y="4800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growth of the global prompt-engineering discipline through 2034, as it merges into broader AI-workflow design roles.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LLM Reads Your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 is broken into tokens (word pieces, ~4 chars each). “Prompting” might split into “Prompt” + “ing.”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2880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30752" y="1947672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30752" y="26060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0752" y="310896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tokens — system prompt, chat history, your input — must fit inside a fixed token budget (e.g. 200K tokens).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880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56832" y="1947672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56832" y="26060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310896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weighs how relevant every token is to every other token to build a contextual understanding.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880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26880" y="16916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82912" y="1947672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4" name="Text 22"/>
          <p:cNvSpPr/>
          <p:nvPr/>
        </p:nvSpPr>
        <p:spPr>
          <a:xfrm>
            <a:off x="958291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582912" y="26060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Next-Token Prediction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2912" y="310896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most probable next token, one at a time, repeatedly, until it stops.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is fundamentally a next-token predictor with a limited context window, every word you include competes for attention and token budget. Being concise, structured, and front-loading the most important instructions measurably improves output quality.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Great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CO-STAR Framework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84832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304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information the model needs to understand the situation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40880" y="2304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task you want the model to perform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3035808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9626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3255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writing style you want (e.g. match a famous author, a business report)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87121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3035808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29626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40880" y="3255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attitude of the response (formal, humorous, empathetic)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3986784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3913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71600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response is intended for — shapes vocabulary &amp; complexity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82219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82512" y="3986784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40880" y="3913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040880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format — list, JSON, table, essay, code block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Model Parameters to Know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wording controls WHAT the model says; these parameters control HOW it decides. Great prompt engineers tune both together.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5084064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67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21671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0607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6243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624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2.0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60520" y="262432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randomness. Low (0–0.3) = focused, deterministic, good for facts/code. High (0.7–1.2) = creative, varied, good for brainstorming.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282696"/>
            <a:ext cx="1060704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37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3337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337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333756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choices to the smallest set of tokens whose cumulative probability exceeds p. Alternative way to control diversity.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95928"/>
            <a:ext cx="1060704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5079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4050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050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4050792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response length. Prevents runaway generation and controls cost.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709160"/>
            <a:ext cx="1060704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640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Penalty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47640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47640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– 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60520" y="476402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Discourages the model from repeating the same tokens verbatim throughout the response.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422392"/>
            <a:ext cx="1060704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4772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Penalty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17520" y="547725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77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– 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547725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the model to introduce new topics rather than sticking to ones already mentioned.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6135624"/>
            <a:ext cx="1060704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1904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17520" y="61904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37" name="Text 35"/>
          <p:cNvSpPr/>
          <p:nvPr/>
        </p:nvSpPr>
        <p:spPr>
          <a:xfrm>
            <a:off x="3017520" y="61904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60520" y="619048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high-priority instructions set once, defining role, rules, and boundaries for the whole session.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LANDSCAPE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Techniques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054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55264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272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77056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98848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708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Persona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691640"/>
            <a:ext cx="3566160" cy="12801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0" y="2633472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5054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2552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1272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498848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43708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512064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49926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Knowledge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169164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1691640"/>
            <a:ext cx="3566160" cy="128016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&amp; Systemic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21040" y="2633472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25054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21040" y="3255264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4" name="Text 32"/>
          <p:cNvSpPr/>
          <p:nvPr/>
        </p:nvSpPr>
        <p:spPr>
          <a:xfrm>
            <a:off x="8549640" y="31272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321040" y="3877056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6" name="Text 34"/>
          <p:cNvSpPr/>
          <p:nvPr/>
        </p:nvSpPr>
        <p:spPr>
          <a:xfrm>
            <a:off x="8549640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321040" y="4498848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43708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21040" y="5120640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0" name="Text 38"/>
          <p:cNvSpPr/>
          <p:nvPr/>
        </p:nvSpPr>
        <p:spPr>
          <a:xfrm>
            <a:off x="8549640" y="49926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Stimulus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FOUNDATIONAL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model to complete a task with instructions alone — no examples given. Relies entirely on the model's pre-trained knowledge to infer what a good answer looks like.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common and well-represented in training 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fast, low-effort first draft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is tight and you can't afford example text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classification, translation, or summarization 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this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as Positive, Negative,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Neutral.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"The delivery was late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the product quality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exceeded my expectations."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zero-shot by default. Only add complexity (examples, reasoning steps) once you observe the plain instruction failing.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FOUNDATIONAL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FOUNDATIONAL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&amp; Few-Shot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one (one-shot) or several (few-shot, typically 2–5) input→output examples inside the prompt before asking the real question. The model pattern-matches your examples' format, tone, and logic.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must follow a strict, unusual, or custom format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consistent tone/voice across many generations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involves nuanced classification or extraction rules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attempts produced inconsistent structure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to JSON: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"John, 29, NYC"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{"name":"John",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"age":29,"city":"NYC"}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"Mia, 34, LA"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{"name":"Mia",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"age":34,"city":"LA"}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"Sam, 41, Austin"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examples diverse (cover edge cases) but consistent in structure — the model copies formatting exactly, including your mistakes.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FOUNDATIONAL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FOUNDATIONAL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/ Persona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the model an identity or expertise (“You are a senior tax accountant…”) to steer vocabulary, depth, tone, and the assumptions it brings to the answer.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domain-specific vocabulary or depth (legal, medical, code review)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consistent tone across a conversation or product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Audience-aware responses are important (explain to a 10-year-old vs. a PhD)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 chatbot persona for a product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frontend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writing for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mid-level developers.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our team is migrating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class-based React app to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components.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explain the 3 most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misused hooks and how to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each anti-pattern.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role with context and audience (see CO-STAR) — a role alone is weaker than a role + situation + audience combined.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FOUNDATIONAL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REASONING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Instructing the model to reason step-by-step before giving a final answer, either by adding “Let's think step by step” (zero-shot CoT) or by showing worked examples with reasoning (few-shot CoT).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or multi-step arithmetic problems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requiring causal or sequential reasoning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audit *why* the model reached an answer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decisions with multiple competing factors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A store had 23 apples. They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 8 and received a delivery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15 more. How many apples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think step by step: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Start: 23 apples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Sold 8 → 23-8 = 15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Delivery +15 → 15+15 = 30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30 apples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mainly helps on genuinely hard, multi-step tasks. On simple tasks it can add noise — test before assuming it helps.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REASONING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REASONING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CoT: instead of generating one reasoning path, the model generates several independent reasoning paths (at higher temperature) for the same question, then the most common / consistent final answer is selected — like a majority vote.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answers where accuracy matters more than speed/cost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logic, or commonsense reasoning with one correct answer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CoT path is unreliable or brittle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afford multiple model calls per question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 same reasoning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N=5 times at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0.7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1 → Answer: 42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2 → Answer: 42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3 → Answer: 39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4 → Answer: 42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5 → Answer: 42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Majority answer: 42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(N× the API calls) — reserve for questions where being wrong is costly, not routine tasks.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REASONING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REASONING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CoT into a branching search: the model proposes multiple possible next “thoughts” at each step, evaluates them, prunes weak branches, and can backtrack — much like exploring a decision tree instead of one straight line.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puzzles, or strategic problems with many valid paths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where an early wrong step ruins the whole answer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problems needing exploration before commitment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tolerate slower, more expensive generation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Imagine three experts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answering this question.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writes one step of their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thinking, then shares it with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group.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 expert's reasoning is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wrong, they leave.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until the group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reaches consensus.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[complex problem]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→ generate multiple thoughts → evaluate → search (BFS/DFS). Slower and pricier than CoT — use for genuinely hard problems.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REASONING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AGENTIC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— Reason + 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Interleaves reasoning traces (“Thought”) with concrete actions (“Action”, e.g. calling a search tool or API) and observed results (“Observation”), letting the model dynamically gather real information instead of guessing.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needs real-time or external data (search, APIs, databases)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autonomous agents that use tools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tasks that need self-correction based on results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an auditable trail of the agent's decisions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I need today's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in Bengaluru.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search["Bengaluru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today"]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27°C, light rain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I can now answer.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finish["It's 27°C with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rain in Bengaluru."]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5330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backbone pattern behind most modern AI agents and tool-using assistants — core to agentic AI in 2026.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AGENTIC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AGENTIC &amp; SYSTEMIC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&amp; Step-Back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LLM to generate, critique, or refine prompts for another (or the same) LLM — the model helps engineer its own instructions.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abstract, reusable logical structure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meta-prompt task-agnostic where possible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the required output format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token efficiency vs. large few-shot sets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288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first abstract a general principle or higher-level question, then apply that principle to answer the specific original question.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pattern: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36118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5935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/ reframe the problem at a higher level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42976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4279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general principle or framework that applies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49834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965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that principle back to the original, specific question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SYSTEMIC TECHNIQUES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AGENTIC &amp; SYSTEMIC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 &amp; Task Decomposition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giant prompt, split a complex goal into a sequence of smaller prompts, where each step's output feeds the next step's input.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196596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16230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key facts / data from raw source 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4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22860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4860" y="196596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948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extracted facts into a clean schema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66660" y="196596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/>
          <p:nvPr/>
        </p:nvSpPr>
        <p:spPr>
          <a:xfrm>
            <a:off x="75666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first-pass answer or document from structured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982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555480" y="22860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538460" y="196596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5384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3836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3836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prompt critiques and improves the draft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956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 in the chain has a narrow, well-defined job, so the model makes fewer mistakes per step. It also lets you insert validation, human review, or tool calls between steps — the foundation of production LLM pipelines.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SYSTEMIC TECHNIQUES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AGENTIC &amp; SYSTEMIC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Retrieval-Augmented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augments a prompt with relevant external documents retrieved from a knowledge base (vector database, search index) before generation — grounding the model's answer in real, current, or proprietary data instead of only its training memory.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cite current or proprietary information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reduce hallucination on factual queries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changes more often than you can retrain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enterprise chatbots, search assistants, Q&amp;A tools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19659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783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23960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01968" y="30175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chunks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3657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1968" y="40690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886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 with context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3960" y="4709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49377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00B8A9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01968" y="5120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4937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 answer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SYSTEMIC TECHNIQUES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AGENTIC &amp; SYSTEMIC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Advanced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KNOWLEDGE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ask the model to generate relevant facts or knowledge about the topic, then feed that generated knowledge back into a second prompt to answer the real question.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“List 5 facts about how golf handicaps work.”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“Using those facts, is a lower handicap better or worse?”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2880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288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STIMULUS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small hints or cues (keywords, a desired phrase, a target entity) that nudge the model's generation toward a specific direction without writing the full answer yourself.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“Summarize this article. Hint: focus on keywords ‘supply chain’, ‘tariffs’, and ‘Q3 earnings’.”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SYSTEMIC TECHNIQUES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Rules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prompts get vague answers. State exact requirements, constraints, and scope.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situation, audience, and purpose — don't assume the model knows your intent.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format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define the output shape: bullet list, table, JSON, word count, headings.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just tell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few-shot examples for anything with a precise or unusual structure.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5196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 &amp; test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 — version, test against edge cases, and measure results.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5196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boundaries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NOT to do: no speculation, no markdown, no preamble, cite sources only.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&amp; How to Fix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too vague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about React hooks"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 + context + task + format (RCTF)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3F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one prompt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instructions in one paragraph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0" y="2971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a prompt chain, one job per step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format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749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wall of 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exact structure: JSON schema, headings, 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3F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negative constraints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4526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rambles or hedges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say what to avoid or exclude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testing edge cases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5303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once, breaks in production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5303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test set; check consistency across runs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&amp; Security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262C52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injection?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 where malicious instructions are hidden inside content the model reads (a webpage, document, or user message) so the model follows the attacker's commands instead of the developer's original intent.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352044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749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LLMs ranks prompt injection as the #1 security risk for LLM applications.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262C52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techniques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reasoning space from content space using clear delimiters or XML-style tags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instruct the model to treat tagged external content as data, not instructions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untrusted content override system-level rules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sanitize any tool output before feeding it back to the model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least-privilege: only grant agents the tool access they truly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Evaluating, Testing &amp; Iterating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code: version them, run structured tests, and measure outcomes rather than relying on gut feel.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1308" y="2468880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132130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success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“good” output look like? Write concrete pass/fail or scoring criteria.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19456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5868" y="2468880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351586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36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test set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80360" y="370332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and edge-case inputs the prompt must handle reliably.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19456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0428" y="2468880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571042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7492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compare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370332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prompt variants side by side on the same inputs; log which wins and by how much.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219456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04988" y="2468880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90498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evaluation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69480" y="370332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like PromptFoo to run test suites across multiple models automatically.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0" y="219456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99548" y="2468880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7" name="Text 25"/>
          <p:cNvSpPr/>
          <p:nvPr/>
        </p:nvSpPr>
        <p:spPr>
          <a:xfrm>
            <a:off x="1009954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6404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&amp; monitor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64040" y="370332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prompt changes like code commits; watch for regressions in production.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APPLICATIONS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by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Compliance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against playbooks, clause extraction, risk flagging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66360" y="1947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 summarization, patient-friendly explanations (with human review)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15400" y="1947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review, documentation, test-case creation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4279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content, ad copy variants, brand-voice-consistent social posts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5196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66360" y="4279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queries over data, chart generation, insight summaries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5196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915400" y="4279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triage, response drafting, sentiment-aware replies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Context + Task + Format (RCTF / CO-STAR)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3464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26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first, add complexity only if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3192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23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Format-sensitive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with 2–5 consistent examples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02920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20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reasoning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413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→ Self-Consistency → Tree of Thoughts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7373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173736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live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facts, ReAct for tool-using agents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834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283464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926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Multi-stage task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3218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— one job per step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9319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393192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023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Untrusted content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it, isolate it, never let it override system rules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029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5029200"/>
            <a:ext cx="91440" cy="9144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5120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shipping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5413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+ A/B comparison + version control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prompts are engineered,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guessed.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347472" cy="347472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9900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(zero-shot), add technique only when the task demands 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685032"/>
            <a:ext cx="347472" cy="347472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611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beats cleverness — role, context, task, and format win consistently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306824"/>
            <a:ext cx="347472" cy="347472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2336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(CoT, ToT, self-consistency) unlock complex problem-solving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928616"/>
            <a:ext cx="347472" cy="347472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85546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 (ReAct, RAG, chaining) connect prompts to real tools and data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5550408"/>
            <a:ext cx="347472" cy="347472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550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4772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code: test, version, evaluate, and guard against injection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2026-08-11T19:00:50Z</dcterms:created>
  <dcterms:modified xsi:type="dcterms:W3CDTF">2026-08-11T19:00:50Z</dcterms:modified>
</cp:coreProperties>
</file>